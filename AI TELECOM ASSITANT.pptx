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project name and framing: this is a proof of concept, not a finished product.
- One sentence on scope: an AI assistant purpose-built for WE customer support, bilingual and voice-enabled.
- Introduce yourself and the date/context of this review.
- Transition: 'Let's start with why we built this.'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Give a quick preview of the nine sections ahead so the audience knows what to expect.
- Keep this brief — a sentence or two, not a full read-through of every sub-label.
- Signal the arc: problem → solution → how it works → proof (demo) → impact → what's next.
- Transition: 'Let's start with the problem.'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 this slide to hook the audience — lead with the pain, not the tech.
- Walk through each of the four pressures: always-on expectations, FAQ volume, bilingual need, and agent burnout.
- The 70% figure is illustrative — swap in real support-ticket data if available before presenting.
- Land on the bottom-line statement as the transition into the solution.
Suggested visual: 2x2 problem card grid (built into slide); alternative is a hub-and-spoke diagram with pain points radiating from a central 'support bottleneck' circle.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Introduce the solution directly as the answer to the four problems just shown.
- Walk through the three capabilities: understand (voice+text input), answer (grounded in WE's own knowledge base), respond (natural voice output).
- Use the User → Assistant → Answer flow to keep this concrete and simple.
- Close on the highlight line — it's the emotional hook: feels human, available every hour.
Suggested visual: 3-capability card row + simple 3-icon workflow (built into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audience through the four numbered steps left to right.
- Step 1-2: input can be voice or text, in either language; the system searches WE's real knowledge base rather than guessing.
- Step 3-4: the AI drafts a natural answer and replies in the same mode the user used (voice or text).
- Use the bottom notes to clarify the voice pipeline (Speech-to-Text in, Text-to-Speech with voice cloning out) without going deep into model names.
Suggested visual: horizontal numbered 4-step flow with icons and arrows (built into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Group the four features conceptually as you present: language + voice, knowledge grounding, memory, and speed.
- Smart Knowledge: emphasize that answers are sourced from WE's own official site content, not invented.
- Context Aware: give a quick example — a user can ask a follow-up without repeating themselves.
- Keep this slide moving quickly; save deep examples for the live demo slide next.
Suggested visual: 2x2 feature card grid with bulleted sub-points (built into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 a live demo is possible, run it here; otherwise walk through this screenshot/mockup as a fallback.
- Read through the sample conversation and point out that the second answer builds on the first (context awareness).
- Call out each item in the capability checklist as you go.
- Have a backup video or additional Arabic-language example ready in case the live demo fails.
Suggested visual: replace the mockup chat panel with an actual screenshot of the Gradio interface once available, including an Arabic-language 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Frame this as 'simple explanation' — avoid diving into specific model names or parameter counts unless asked.
- Walk left to right: speech-to-text, knowledge search, the AI brain, and voice generation.
- Reassure the audience on feasibility: this runs on standard GPU hardware, not exotic infrastructure.
- If a technical stakeholder pushes for specifics, offer to follow up separately rather than derailing this slide.
Suggested visual: four-panel component breakdown with arrows (built into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slide is for decision-makers — lead with numbers, not features.
- The 50-70% workload reduction is an estimate for a pilot; commit to validating it with real data during Phase 1.
- Customer experience and brand consistency matter as much as cost — don't let the savings figure overshadow them.
- Close on the bottom-line equation before moving to the roadmap.
Suggested visual: 2x2 benefit card grid (built into slide); optionally replace with percentage/metric callout tiles if real pilot data becomes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the floor for questions — pause here and invite the audience to speak up.
- Have the earlier slides (problem, solution, tech overview, business value) ready to jump back to if needed.
- If no questions come immediately, prompt with something specific, e.g. 'What would you want to see in a pilot?'
- Thank the audience for their time before wrapping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1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914400"/>
            <a:ext cx="1280160" cy="1005840"/>
          </a:xfrm>
          <a:prstGeom prst="line">
            <a:avLst/>
          </a:prstGeom>
          <a:noFill/>
          <a:ln w="12700">
            <a:solidFill>
              <a:srgbClr val="2E86D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1920240"/>
            <a:ext cx="-731520" cy="1188720"/>
          </a:xfrm>
          <a:prstGeom prst="line">
            <a:avLst/>
          </a:prstGeom>
          <a:noFill/>
          <a:ln w="12700">
            <a:solidFill>
              <a:srgbClr val="2E86D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3108960"/>
            <a:ext cx="1188720" cy="822960"/>
          </a:xfrm>
          <a:prstGeom prst="line">
            <a:avLst/>
          </a:prstGeom>
          <a:noFill/>
          <a:ln w="12700">
            <a:solidFill>
              <a:srgbClr val="2E86D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3931920"/>
            <a:ext cx="-2011680" cy="640080"/>
          </a:xfrm>
          <a:prstGeom prst="line">
            <a:avLst/>
          </a:prstGeom>
          <a:noFill/>
          <a:ln w="12700">
            <a:solidFill>
              <a:srgbClr val="2E86D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4572000"/>
            <a:ext cx="1371600" cy="914400"/>
          </a:xfrm>
          <a:prstGeom prst="line">
            <a:avLst/>
          </a:prstGeom>
          <a:noFill/>
          <a:ln w="12700">
            <a:solidFill>
              <a:srgbClr val="2E86D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5486400"/>
            <a:ext cx="-2011680" cy="548640"/>
          </a:xfrm>
          <a:prstGeom prst="line">
            <a:avLst/>
          </a:prstGeom>
          <a:noFill/>
          <a:ln w="12700">
            <a:solidFill>
              <a:srgbClr val="2E86D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34372" y="873252"/>
            <a:ext cx="82296" cy="82296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9" name="Shape 7"/>
          <p:cNvSpPr/>
          <p:nvPr/>
        </p:nvSpPr>
        <p:spPr>
          <a:xfrm>
            <a:off x="11114532" y="1879092"/>
            <a:ext cx="82296" cy="82296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0" name="Shape 8"/>
          <p:cNvSpPr/>
          <p:nvPr/>
        </p:nvSpPr>
        <p:spPr>
          <a:xfrm>
            <a:off x="10383012" y="3067812"/>
            <a:ext cx="82296" cy="82296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1" name="Shape 9"/>
          <p:cNvSpPr/>
          <p:nvPr/>
        </p:nvSpPr>
        <p:spPr>
          <a:xfrm>
            <a:off x="11571732" y="3890772"/>
            <a:ext cx="82296" cy="82296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2" name="Shape 10"/>
          <p:cNvSpPr/>
          <p:nvPr/>
        </p:nvSpPr>
        <p:spPr>
          <a:xfrm>
            <a:off x="9560052" y="4530852"/>
            <a:ext cx="82296" cy="82296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31652" y="5445252"/>
            <a:ext cx="82296" cy="82296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4" name="Shape 12"/>
          <p:cNvSpPr/>
          <p:nvPr/>
        </p:nvSpPr>
        <p:spPr>
          <a:xfrm>
            <a:off x="8919972" y="5993892"/>
            <a:ext cx="82296" cy="82296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777240"/>
            <a:ext cx="960120" cy="96012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7" name="Image 0" descr="icon_head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032" y="1036472"/>
            <a:ext cx="441655" cy="44165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417320" y="502920"/>
            <a:ext cx="777240" cy="777240"/>
          </a:xfrm>
          <a:prstGeom prst="ellipse">
            <a:avLst/>
          </a:prstGeom>
          <a:solidFill>
            <a:srgbClr val="5DADE2"/>
          </a:solidFill>
          <a:ln/>
        </p:spPr>
      </p:sp>
      <p:pic>
        <p:nvPicPr>
          <p:cNvPr id="19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175" y="712775"/>
            <a:ext cx="357530" cy="35753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" y="1463040"/>
            <a:ext cx="640080" cy="640080"/>
          </a:xfrm>
          <a:prstGeom prst="ellipse">
            <a:avLst/>
          </a:prstGeom>
          <a:solidFill>
            <a:srgbClr val="132A45"/>
          </a:solidFill>
          <a:ln/>
        </p:spPr>
      </p:sp>
      <p:pic>
        <p:nvPicPr>
          <p:cNvPr id="21" name="Image 2" descr="icon_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2" y="1635862"/>
            <a:ext cx="294437" cy="29443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32004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TELECOM ASSISTANT</a:t>
            </a:r>
            <a:endParaRPr lang="en-US" sz="4200" dirty="0"/>
          </a:p>
        </p:txBody>
      </p:sp>
      <p:sp>
        <p:nvSpPr>
          <p:cNvPr id="25" name="Text 20"/>
          <p:cNvSpPr/>
          <p:nvPr/>
        </p:nvSpPr>
        <p:spPr>
          <a:xfrm>
            <a:off x="640080" y="40416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for WE Customer Support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4008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[Presentation Date]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57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842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91840" y="2039112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9" name="Image 0" descr="icon_excl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9973" y="2187245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4414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an intelligent assistant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80560" y="19842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040880" y="2039112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5" name="Image 1" descr="icon_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013" y="2187245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80560" y="24414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48056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new AI assistant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46720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229600" y="19842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10789920" y="2039112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1" name="Image 2" descr="icon_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053" y="2187245"/>
            <a:ext cx="252374" cy="2523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9600" y="24414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22960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architecture, 4 steps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34747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31520" y="35844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3291840" y="3639312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7" name="Image 3" descr="icon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973" y="3787445"/>
            <a:ext cx="252374" cy="25237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" y="40416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31520" y="4389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powerful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297680" y="34747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4480560" y="35844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7040880" y="3639312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33" name="Image 4" descr="icon_p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013" y="3787445"/>
            <a:ext cx="252374" cy="25237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480560" y="40416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4480560" y="4389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8046720" y="34747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8229600" y="35844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Shape 31"/>
          <p:cNvSpPr/>
          <p:nvPr/>
        </p:nvSpPr>
        <p:spPr>
          <a:xfrm>
            <a:off x="10789920" y="3639312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39" name="Image 5" descr="icon_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8053" y="3787445"/>
            <a:ext cx="252374" cy="25237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229600" y="40416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Overview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8229600" y="4389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behind it, simply explained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548640" y="50749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731520" y="51846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Shape 36"/>
          <p:cNvSpPr/>
          <p:nvPr/>
        </p:nvSpPr>
        <p:spPr>
          <a:xfrm>
            <a:off x="3291840" y="5239512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45" name="Image 6" descr="icon_mon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9973" y="5387645"/>
            <a:ext cx="252374" cy="25237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31520" y="56418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47" name="Text 38"/>
          <p:cNvSpPr/>
          <p:nvPr/>
        </p:nvSpPr>
        <p:spPr>
          <a:xfrm>
            <a:off x="731520" y="5989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business impact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4297680" y="50749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49" name="Text 40"/>
          <p:cNvSpPr/>
          <p:nvPr/>
        </p:nvSpPr>
        <p:spPr>
          <a:xfrm>
            <a:off x="4480560" y="51846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50" name="Shape 41"/>
          <p:cNvSpPr/>
          <p:nvPr/>
        </p:nvSpPr>
        <p:spPr>
          <a:xfrm>
            <a:off x="7040880" y="5239512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51" name="Image 7" descr="icon_questi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9013" y="5387645"/>
            <a:ext cx="252374" cy="25237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480560" y="56418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1350" dirty="0"/>
          </a:p>
        </p:txBody>
      </p:sp>
      <p:sp>
        <p:nvSpPr>
          <p:cNvPr id="53" name="Text 43"/>
          <p:cNvSpPr/>
          <p:nvPr/>
        </p:nvSpPr>
        <p:spPr>
          <a:xfrm>
            <a:off x="4480560" y="5989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for 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pressures on today's support model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21742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8" name="Image 0" descr="icon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95" y="2427275"/>
            <a:ext cx="357530" cy="3575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011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 Demand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2395728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expect instant support anytime, day or night.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0" y="182880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1742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3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055" y="242727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011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Repetitive Questions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32320" y="2395728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queries are FAQs — plans, bills, technical issues.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61188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00050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8" name="Image 2" descr="icon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95" y="4210355"/>
            <a:ext cx="357530" cy="3575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7947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Barrier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737360" y="4178808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seamless support in both Arabic and English.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43600" y="361188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72200" y="400050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3" name="Image 3" descr="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055" y="4210355"/>
            <a:ext cx="357530" cy="3575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37947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Overload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132320" y="4178808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 overwhelmed by routine questions.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576072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7607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faster, always-on, multilingual support.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155680" y="457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bilingual (Arabic/English), voice-enabled AI assistant built specifically for WE customer support.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86000"/>
            <a:ext cx="731520" cy="73152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8" name="Image 0" descr="icon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48351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both text and voice input.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20116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286000"/>
            <a:ext cx="731520" cy="73152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3" name="Image 1" descr="icon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248351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35204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information from WE's official knowledge base.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55280" y="20116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2286000"/>
            <a:ext cx="731520" cy="73152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8" name="Image 2" descr="icon_volu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10" y="248351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29600" y="35204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naturally using voice cloning technology.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118208" y="4434840"/>
            <a:ext cx="822960" cy="82296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2" name="Image 3" descr="icon_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407" y="4657039"/>
            <a:ext cx="378562" cy="3785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58088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974440" y="4736592"/>
            <a:ext cx="676656" cy="219456"/>
          </a:xfrm>
          <a:prstGeom prst="rightArrow">
            <a:avLst/>
          </a:prstGeom>
          <a:solidFill>
            <a:srgbClr val="5DADE2"/>
          </a:solidFill>
          <a:ln/>
        </p:spPr>
      </p:sp>
      <p:sp>
        <p:nvSpPr>
          <p:cNvPr id="25" name="Shape 19"/>
          <p:cNvSpPr/>
          <p:nvPr/>
        </p:nvSpPr>
        <p:spPr>
          <a:xfrm>
            <a:off x="5684368" y="4434840"/>
            <a:ext cx="822960" cy="82296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6" name="Image 4" descr="icon_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67" y="4657039"/>
            <a:ext cx="378562" cy="3785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24248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540600" y="4736592"/>
            <a:ext cx="676656" cy="219456"/>
          </a:xfrm>
          <a:prstGeom prst="rightArrow">
            <a:avLst/>
          </a:prstGeom>
          <a:solidFill>
            <a:srgbClr val="5DADE2"/>
          </a:solidFill>
          <a:ln/>
        </p:spPr>
      </p:sp>
      <p:sp>
        <p:nvSpPr>
          <p:cNvPr id="29" name="Shape 22"/>
          <p:cNvSpPr/>
          <p:nvPr/>
        </p:nvSpPr>
        <p:spPr>
          <a:xfrm>
            <a:off x="9250528" y="4434840"/>
            <a:ext cx="822960" cy="82296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30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2727" y="4657039"/>
            <a:ext cx="378562" cy="3785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90408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548640" y="60807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/>
        </p:spPr>
      </p:sp>
      <p:sp>
        <p:nvSpPr>
          <p:cNvPr id="33" name="Text 25"/>
          <p:cNvSpPr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just like talking to a human agent — but available 24/7.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question to a spoken or written answer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95248" y="1965960"/>
            <a:ext cx="960120" cy="96012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7" name="Image 0" descr="icon_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225192"/>
            <a:ext cx="441655" cy="4416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62760" y="1892808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62760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0868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or Type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0868" y="34564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Arabic or English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55468" y="2345436"/>
            <a:ext cx="320040" cy="201168"/>
          </a:xfrm>
          <a:prstGeom prst="rightArrow">
            <a:avLst/>
          </a:prstGeom>
          <a:solidFill>
            <a:srgbClr val="5DADE2"/>
          </a:solidFill>
          <a:ln/>
        </p:spPr>
      </p:sp>
      <p:sp>
        <p:nvSpPr>
          <p:cNvPr id="13" name="Shape 10"/>
          <p:cNvSpPr/>
          <p:nvPr/>
        </p:nvSpPr>
        <p:spPr>
          <a:xfrm>
            <a:off x="4175608" y="1965960"/>
            <a:ext cx="960120" cy="96012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4" name="Image 1" descr="icon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225192"/>
            <a:ext cx="441655" cy="44165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43120" y="1892808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3120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1228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Answer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21228" y="34564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searches WE's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935828" y="2345436"/>
            <a:ext cx="320040" cy="201168"/>
          </a:xfrm>
          <a:prstGeom prst="rightArrow">
            <a:avLst/>
          </a:prstGeom>
          <a:solidFill>
            <a:srgbClr val="5DADE2"/>
          </a:solidFill>
          <a:ln/>
        </p:spPr>
      </p:sp>
      <p:sp>
        <p:nvSpPr>
          <p:cNvPr id="20" name="Shape 16"/>
          <p:cNvSpPr/>
          <p:nvPr/>
        </p:nvSpPr>
        <p:spPr>
          <a:xfrm>
            <a:off x="7055968" y="1965960"/>
            <a:ext cx="960120" cy="96012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1" name="Image 2" descr="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225192"/>
            <a:ext cx="441655" cy="44165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723480" y="1892808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723480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01588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Response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01588" y="34564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a natural,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answer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816188" y="2345436"/>
            <a:ext cx="320040" cy="201168"/>
          </a:xfrm>
          <a:prstGeom prst="rightArrow">
            <a:avLst/>
          </a:prstGeom>
          <a:solidFill>
            <a:srgbClr val="5DADE2"/>
          </a:solidFill>
          <a:ln/>
        </p:spPr>
      </p:sp>
      <p:sp>
        <p:nvSpPr>
          <p:cNvPr id="27" name="Shape 22"/>
          <p:cNvSpPr/>
          <p:nvPr/>
        </p:nvSpPr>
        <p:spPr>
          <a:xfrm>
            <a:off x="9936328" y="1965960"/>
            <a:ext cx="960120" cy="96012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8" name="Image 3" descr="icon_volu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225192"/>
            <a:ext cx="441655" cy="44165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603840" y="1892808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603840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181948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Reply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181948" y="34564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responds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voice or text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48640" y="534924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68680" y="5504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input: Speech-to-Text converts your voice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868680" y="58064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output: Text-to-Speech with voice cloning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868680" y="610819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input: Works directly in chat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working together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84248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8" name="Image 0" descr="icon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9" y="2137319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476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Conversation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24963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Arabic and English support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Assistant responds in your language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Voice cloning for consistent brand voice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178308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44768" y="1984248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3" name="Image 1" descr="icon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839" y="2137319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19476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Knowledge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217920" y="24963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Scrapes WE's official website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Includes plans, FAQs, promotions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Always cites official sources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767328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808" y="3968496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8" name="Image 2" descr="icon_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79" y="4121567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931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Aware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2960" y="4480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Remembers previous questions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Understands follow-up questions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Natural multi-turn conversations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943600" y="3767328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44768" y="3968496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3" name="Image 3" descr="icon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839" y="4121567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0" y="3931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217920" y="4480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Instant responses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Voice and text modes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Always available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conversation from the assistant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4922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DC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6492240" cy="457200"/>
          </a:xfrm>
          <a:prstGeom prst="roundRect">
            <a:avLst>
              <a:gd name="adj" fmla="val 24000"/>
            </a:avLst>
          </a:prstGeom>
          <a:solidFill>
            <a:srgbClr val="2E86D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Assistant — Live Interface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3017520" cy="576072"/>
          </a:xfrm>
          <a:prstGeom prst="roundRect">
            <a:avLst>
              <a:gd name="adj" fmla="val 12698"/>
            </a:avLst>
          </a:prstGeom>
          <a:solidFill>
            <a:srgbClr val="2E86DE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450592"/>
            <a:ext cx="2688336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WE's internet plans?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80160" y="3118104"/>
            <a:ext cx="5486400" cy="1088136"/>
          </a:xfrm>
          <a:prstGeom prst="roundRect">
            <a:avLst>
              <a:gd name="adj" fmla="val 6723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4752" y="3191256"/>
            <a:ext cx="515721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offers several plans: 100 Mbps for 250 EGP/month, 200 Mbps for 350 EGP/month, and 500 Mbps for 550 EGP/month.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407408"/>
            <a:ext cx="3291840" cy="576072"/>
          </a:xfrm>
          <a:prstGeom prst="roundRect">
            <a:avLst>
              <a:gd name="adj" fmla="val 12698"/>
            </a:avLst>
          </a:prstGeom>
          <a:solidFill>
            <a:srgbClr val="2E86DE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4480560"/>
            <a:ext cx="2962656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the 200 Mbps plan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80160" y="5148072"/>
            <a:ext cx="5486400" cy="1088136"/>
          </a:xfrm>
          <a:prstGeom prst="roundRect">
            <a:avLst>
              <a:gd name="adj" fmla="val 6723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5221224"/>
            <a:ext cx="515721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 Mbps plan provides high-speed internet at 350 EGP/month. Features include free installation, WiFi router, and 24/7 support.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6092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Demonstrated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60920" y="2423160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9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4364" y="2546604"/>
            <a:ext cx="210312" cy="2103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955280" y="2423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both Arabic and English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60920" y="3291840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2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364" y="3415284"/>
            <a:ext cx="210312" cy="2103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955280" y="32918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WE products and plans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360920" y="4160520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5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364" y="42839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55280" y="41605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conversation context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7360920" y="5029200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8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515264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955280" y="50292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quickly and accurately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components, working in sequence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224028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8" name="Image 0" descr="icon_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2895" y="2450135"/>
            <a:ext cx="357530" cy="3575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0040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Speech-to-Text (ASR)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your voice to text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480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Arabic/English speech recognition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2468880"/>
            <a:ext cx="192024" cy="182880"/>
          </a:xfrm>
          <a:prstGeom prst="rightArrow">
            <a:avLst/>
          </a:prstGeom>
          <a:solidFill>
            <a:srgbClr val="5DADE2"/>
          </a:solidFill>
          <a:ln/>
        </p:spPr>
      </p:sp>
      <p:sp>
        <p:nvSpPr>
          <p:cNvPr id="13" name="Shape 10"/>
          <p:cNvSpPr/>
          <p:nvPr/>
        </p:nvSpPr>
        <p:spPr>
          <a:xfrm>
            <a:off x="338328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224028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5" name="Image 1" descr="icon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535" y="2450135"/>
            <a:ext cx="357530" cy="3575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47872" y="320040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Search (RAG)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information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66160" y="4480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that understands context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07608" y="2468880"/>
            <a:ext cx="192024" cy="182880"/>
          </a:xfrm>
          <a:prstGeom prst="rightArrow">
            <a:avLst/>
          </a:prstGeom>
          <a:solidFill>
            <a:srgbClr val="5DADE2"/>
          </a:solidFill>
          <a:ln/>
        </p:spPr>
      </p:sp>
      <p:sp>
        <p:nvSpPr>
          <p:cNvPr id="20" name="Shape 16"/>
          <p:cNvSpPr/>
          <p:nvPr/>
        </p:nvSpPr>
        <p:spPr>
          <a:xfrm>
            <a:off x="621792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32320" y="224028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2" name="Image 2" descr="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175" y="2450135"/>
            <a:ext cx="357530" cy="35753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82512" y="320040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Brain (LLM)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0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natural responses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0" y="4480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efficient language model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842248" y="2468880"/>
            <a:ext cx="192024" cy="182880"/>
          </a:xfrm>
          <a:prstGeom prst="rightArrow">
            <a:avLst/>
          </a:prstGeom>
          <a:solidFill>
            <a:srgbClr val="5DADE2"/>
          </a:solidFill>
          <a:ln/>
        </p:spPr>
      </p:sp>
      <p:sp>
        <p:nvSpPr>
          <p:cNvPr id="27" name="Shape 22"/>
          <p:cNvSpPr/>
          <p:nvPr/>
        </p:nvSpPr>
        <p:spPr>
          <a:xfrm>
            <a:off x="905256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966960" y="224028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9" name="Image 3" descr="icon_volu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815" y="2450135"/>
            <a:ext cx="357530" cy="35753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17152" y="320040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Generator (TTS)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235440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answers aloud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9235440" y="4480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for natural sound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running on standard GPU hardware — no special equipment needed.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this moves the needle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24028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8" name="Image 0" descr="icon_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95" y="2450135"/>
            <a:ext cx="357530" cy="3575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Savings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235000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agent workload by 50–70% on routine queries. Handles thousands of conversations simultaneously.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17830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3" name="Image 1" descr="icon_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055" y="245013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32320" y="235000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instant support availability. Speaks Arabic and English naturally.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675888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133088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8" name="Image 2" descr="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95" y="4342943"/>
            <a:ext cx="357530" cy="3575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85876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737360" y="4242816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new information. Grows with your business needs.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943600" y="3675888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63500" dist="25400" dir="5400000">
              <a:srgbClr val="0A1628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72200" y="4133088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3" name="Image 3" descr="icon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055" y="4342943"/>
            <a:ext cx="357530" cy="3575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385876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Consistency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132320" y="4242816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provides accurate, approved responses. Maintains consistent brand voice.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support = Happier customers = Better business.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57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10048" y="1645920"/>
            <a:ext cx="1371600" cy="13716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5" name="Image 0" descr="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380" y="201625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461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402336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happy to answer any questions about the AI Telecom Assistant.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2026-08-05T21:26:48Z</dcterms:created>
  <dcterms:modified xsi:type="dcterms:W3CDTF">2026-08-05T21:26:48Z</dcterms:modified>
</cp:coreProperties>
</file>